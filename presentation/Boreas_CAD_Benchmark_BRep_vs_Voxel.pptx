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42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389FB-6797-E048-9E16-022BB7854CAF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2108C-F9B1-5D48-88CF-1D9EE265EC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58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Kurz den Ablauf nennen. Neben den Folien läuft die Demo (Modus ④ Vergleich).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731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Anforderungen → Geometrie → Simulation → Optimierung → Fertigung, ohne Mausklicks, damit viele Varianten und KI-Agents möglich werden. Unsere Referenz aus Shapr3D ist freihand gezeichnet – jede Änderung ist Handarbeit. Und unsere Teile werden aerodynamisch und thermisch anspruchsvoller.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0047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Vektorgrafik vs. Pixelbild: Das Rezept bleibt beim Zoomen glatt, das Raster zeigt Treppen. In 3D heisst das Rezept B-rep, das Raster Voxel. Alles Weitere folgt aus diesem Unterschied.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324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Boundary Representation: Körper → Flächen → Kanten → Ecken. Jede Fläche ist eine Formel.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511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Negativ innen, positiv aussen, null auf der Oberfläche (Distanzfeld). Keine Flächen, die sich schneiden müssen – deshalb gelingen Booleans praktisch immer.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861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Stand 30.09.2026 (docs/research_*.md). Beide Open Source, gleicher Zweck: Geometrie aus Programmcode.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771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Die Shapr3D-Datei ist nicht constrained. Neu: Skelett + 9 Gruppen (Oberteil, Arme, Gondeln, Unterteil, Aero-Fins, Heckflossen, Nase, Steckverbindungen, Details). Pipeline ändert eine Gruppe pro Durchlauf, der Rest bleibt stabil. Demo: Modus ④, Aufgabe B03, „Neu rechnen“ mit body_fins.profile_chord=60 – nur das Oberteil ändert sich.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148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Links build123d, rechts PicoGK in der Demo (Modus ④). Auf Bildschirmgrösse gleich, innen verschieden.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183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Es geht um die Werkzeuge, nicht um Auslegungswerte. Ergebnisse im Repo: bench/results/latest.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341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Beide Werkzeuge bauen das Modell in Sekunden. Voxel braucht ein Vielfaches an Speicher. B-rep scheitert an Freiform-Operationen, die im Voxel trivial sind.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390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Ziel 1 und 2. Vollständige Matrix mit 51 Funktionen in spec/feature_matrix.json und im Demo-Modus ④.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8484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„Nicht möglich“ heisst nicht schlecht: Ein gedrucktes Gitterteil braucht keine Zeichnung. Aber tragende, gefräste oder zugekaufte Teile brauchen Masse und STEP.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672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B07: gleiche Geometrie, Voxelgrösse 2 → 0.25 mm. B-rep ist exakt (gestrichelte Linie).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7992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Wandzeit je Prozess inkl. Start und Export, gemessen vom Runner.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130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Ein Voxelmodell hat keine Kanten, an denen man ein Mass anbringen könnte. Demo: Werkbank, Zeichnung.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839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Links Gyroid-Infill im Unterteil (V01), rechts gewendelte Kühlluftkanäle mit Abzweig in die Heckflossen (V02).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9264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Ziel 3. Für Aero-Aussenflächen zählt Exaktheit und Glätte, für innere Luftführung die Freiheit der Form.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104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Ziele 4 und 5. Beide Modelle in diesem Projekt wurden mit KI-Agents gebaut – gleicher Codeumfang. Die gefährlichsten Fehler sind die stillen (B-rep) und die falschen Kennwerte der Bibliothek (Voxel).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406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Die Pipeline-Parameter (Skelett + Gruppen) bleiben in einer Spec, beide Werkzeuge lesen sie.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970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Ein Pilotbauteil durch die ganze Kette statt weiterer Vergleiche.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108C-F9B1-5D48-88CF-1D9EE265EC06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895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reas Titel"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wm-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11680" cy="25103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2402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rgbClr val="F2EDE3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dirty="0">
                <a:solidFill>
                  <a:srgbClr val="F2EDE3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Titel der Präsentation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38328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9EA3AC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9EA3A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Untertitel oder kurze Einordnung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A3A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Fokus-Projekt ETH Zürich</a:t>
            </a:r>
            <a:endParaRPr lang="en-US" sz="1000" dirty="0"/>
          </a:p>
        </p:txBody>
      </p:sp>
      <p:pic>
        <p:nvPicPr>
          <p:cNvPr id="90" name="ET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820" y="4612564"/>
            <a:ext cx="527120" cy="220000"/>
          </a:xfrm>
          <a:prstGeom prst="rect">
            <a:avLst/>
          </a:prstGeom>
        </p:spPr>
      </p:pic>
      <p:pic>
        <p:nvPicPr>
          <p:cNvPr id="91" name="pdz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940" y="4612564"/>
            <a:ext cx="420420" cy="2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reas Kapitel"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ic-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02920" cy="363759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2EDE3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2EDE3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Kapiteltitel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177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EA3AC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90" name="ET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820" y="4612564"/>
            <a:ext cx="527120" cy="220000"/>
          </a:xfrm>
          <a:prstGeom prst="rect">
            <a:avLst/>
          </a:prstGeom>
        </p:spPr>
      </p:pic>
      <p:pic>
        <p:nvPicPr>
          <p:cNvPr id="91" name="pdz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940" y="4612564"/>
            <a:ext cx="420420" cy="2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reas Inhalt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ic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90288"/>
            <a:ext cx="365760" cy="26455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Folientitel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37160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313C4E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313C4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Text oder Aufzählung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177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65E6D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90" name="ET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80" y="4612564"/>
            <a:ext cx="527120" cy="220000"/>
          </a:xfrm>
          <a:prstGeom prst="rect">
            <a:avLst/>
          </a:prstGeom>
        </p:spPr>
      </p:pic>
      <p:pic>
        <p:nvPicPr>
          <p:cNvPr id="91" name="pdz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400" y="4612564"/>
            <a:ext cx="420420" cy="2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reas Zwei Spalten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ic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90288"/>
            <a:ext cx="365760" cy="26455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Folientitel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37160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313C4E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313C4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Linke Spalte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4754880" y="137160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313C4E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313C4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Rechte Spalte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177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65E6D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90" name="ET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80" y="4612564"/>
            <a:ext cx="527120" cy="220000"/>
          </a:xfrm>
          <a:prstGeom prst="rect">
            <a:avLst/>
          </a:prstGeom>
        </p:spPr>
      </p:pic>
      <p:pic>
        <p:nvPicPr>
          <p:cNvPr id="91" name="pdz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400" y="4612564"/>
            <a:ext cx="420420" cy="2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reas Nur Titel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ic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90288"/>
            <a:ext cx="365760" cy="26455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Folientitel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177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65E6D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reas Drei Kacheln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ic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90288"/>
            <a:ext cx="365760" cy="26455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0D192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Folientitel</a:t>
            </a:r>
            <a:endParaRPr lang="en-US" sz="3000" dirty="0"/>
          </a:p>
        </p:txBody>
      </p:sp>
      <p:sp>
        <p:nvSpPr>
          <p:cNvPr id="30" name="Kachel 30"/>
          <p:cNvSpPr/>
          <p:nvPr userDrawn="1"/>
        </p:nvSpPr>
        <p:spPr>
          <a:xfrm>
            <a:off x="54864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0D192F"/>
          </a:solidFill>
          <a:ln w="9525">
            <a:solidFill>
              <a:srgbClr val="0D192F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1" name="Kachel 31"/>
          <p:cNvSpPr/>
          <p:nvPr userDrawn="1"/>
        </p:nvSpPr>
        <p:spPr>
          <a:xfrm>
            <a:off x="331470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8F6F1"/>
          </a:solidFill>
          <a:ln w="9525">
            <a:solidFill>
              <a:srgbClr val="D6CEC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2" name="Kachel 32"/>
          <p:cNvSpPr/>
          <p:nvPr userDrawn="1"/>
        </p:nvSpPr>
        <p:spPr>
          <a:xfrm>
            <a:off x="608076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8F6F1"/>
          </a:solidFill>
          <a:ln w="9525">
            <a:solidFill>
              <a:srgbClr val="D6CEC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0" name="Kennzahl 1"/>
          <p:cNvSpPr>
            <a:spLocks noGrp="1"/>
          </p:cNvSpPr>
          <p:nvPr>
            <p:ph type="body" sz="quarter" idx="20" hasCustomPrompt="1"/>
          </p:nvPr>
        </p:nvSpPr>
        <p:spPr>
          <a:xfrm>
            <a:off x="822960" y="178308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3800">
                <a:solidFill>
                  <a:srgbClr val="F2EDE3"/>
                </a:solidFill>
                <a:latin typeface="Outfit Light"/>
                <a:ea typeface="Outfit Light"/>
                <a:cs typeface="Outfit Light"/>
              </a:defRPr>
            </a:lvl1pPr>
          </a:lstStyle>
          <a:p>
            <a:r>
              <a:rPr lang="de-CH" dirty="0"/>
              <a:t>Zahl</a:t>
            </a:r>
          </a:p>
        </p:txBody>
      </p:sp>
      <p:sp>
        <p:nvSpPr>
          <p:cNvPr id="50" name="Beschreibung 1"/>
          <p:cNvSpPr>
            <a:spLocks noGrp="1"/>
          </p:cNvSpPr>
          <p:nvPr>
            <p:ph type="body" sz="quarter" idx="23" hasCustomPrompt="1"/>
          </p:nvPr>
        </p:nvSpPr>
        <p:spPr>
          <a:xfrm>
            <a:off x="822960" y="26974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9EA3AC"/>
                </a:solidFill>
                <a:latin typeface="Outfit"/>
                <a:ea typeface="Outfit"/>
                <a:cs typeface="Outfit"/>
              </a:defRPr>
            </a:lvl1pPr>
          </a:lstStyle>
          <a:p>
            <a:r>
              <a:rPr lang="de-CH" dirty="0"/>
              <a:t>Beschreibung</a:t>
            </a:r>
          </a:p>
        </p:txBody>
      </p:sp>
      <p:sp>
        <p:nvSpPr>
          <p:cNvPr id="41" name="Kennzahl 2"/>
          <p:cNvSpPr>
            <a:spLocks noGrp="1"/>
          </p:cNvSpPr>
          <p:nvPr>
            <p:ph type="body" sz="quarter" idx="21" hasCustomPrompt="1"/>
          </p:nvPr>
        </p:nvSpPr>
        <p:spPr>
          <a:xfrm>
            <a:off x="3589020" y="178308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3800">
                <a:solidFill>
                  <a:srgbClr val="0D192F"/>
                </a:solidFill>
                <a:latin typeface="Outfit Light"/>
                <a:ea typeface="Outfit Light"/>
                <a:cs typeface="Outfit Light"/>
              </a:defRPr>
            </a:lvl1pPr>
          </a:lstStyle>
          <a:p>
            <a:r>
              <a:rPr lang="de-CH" dirty="0"/>
              <a:t>Zahl</a:t>
            </a:r>
          </a:p>
        </p:txBody>
      </p:sp>
      <p:sp>
        <p:nvSpPr>
          <p:cNvPr id="51" name="Beschreibung 2"/>
          <p:cNvSpPr>
            <a:spLocks noGrp="1"/>
          </p:cNvSpPr>
          <p:nvPr>
            <p:ph type="body" sz="quarter" idx="24" hasCustomPrompt="1"/>
          </p:nvPr>
        </p:nvSpPr>
        <p:spPr>
          <a:xfrm>
            <a:off x="3589020" y="26974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565E6D"/>
                </a:solidFill>
                <a:latin typeface="Outfit"/>
                <a:ea typeface="Outfit"/>
                <a:cs typeface="Outfit"/>
              </a:defRPr>
            </a:lvl1pPr>
          </a:lstStyle>
          <a:p>
            <a:r>
              <a:rPr lang="de-CH" dirty="0"/>
              <a:t>Beschreibung</a:t>
            </a:r>
          </a:p>
        </p:txBody>
      </p:sp>
      <p:sp>
        <p:nvSpPr>
          <p:cNvPr id="42" name="Kennzahl 3"/>
          <p:cNvSpPr>
            <a:spLocks noGrp="1"/>
          </p:cNvSpPr>
          <p:nvPr>
            <p:ph type="body" sz="quarter" idx="22" hasCustomPrompt="1"/>
          </p:nvPr>
        </p:nvSpPr>
        <p:spPr>
          <a:xfrm>
            <a:off x="6355080" y="178308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3800">
                <a:solidFill>
                  <a:srgbClr val="0D192F"/>
                </a:solidFill>
                <a:latin typeface="Outfit Light"/>
                <a:ea typeface="Outfit Light"/>
                <a:cs typeface="Outfit Light"/>
              </a:defRPr>
            </a:lvl1pPr>
          </a:lstStyle>
          <a:p>
            <a:r>
              <a:rPr lang="de-CH" dirty="0"/>
              <a:t>Zahl</a:t>
            </a:r>
          </a:p>
        </p:txBody>
      </p:sp>
      <p:sp>
        <p:nvSpPr>
          <p:cNvPr id="52" name="Beschreibung 3"/>
          <p:cNvSpPr>
            <a:spLocks noGrp="1"/>
          </p:cNvSpPr>
          <p:nvPr>
            <p:ph type="body" sz="quarter" idx="25" hasCustomPrompt="1"/>
          </p:nvPr>
        </p:nvSpPr>
        <p:spPr>
          <a:xfrm>
            <a:off x="6355080" y="26974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565E6D"/>
                </a:solidFill>
                <a:latin typeface="Outfit"/>
                <a:ea typeface="Outfit"/>
                <a:cs typeface="Outfit"/>
              </a:defRPr>
            </a:lvl1pPr>
          </a:lstStyle>
          <a:p>
            <a:r>
              <a:rPr lang="de-CH" dirty="0"/>
              <a:t>Beschreibung</a:t>
            </a:r>
          </a:p>
        </p:txBody>
      </p:sp>
      <p:sp>
        <p:nvSpPr>
          <p:cNvPr id="60" name="Anmerkung"/>
          <p:cNvSpPr>
            <a:spLocks noGrp="1"/>
          </p:cNvSpPr>
          <p:nvPr>
            <p:ph type="body" sz="quarter" idx="26" hasCustomPrompt="1"/>
          </p:nvPr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100">
                <a:solidFill>
                  <a:srgbClr val="565E6D"/>
                </a:solidFill>
                <a:latin typeface="Outfit"/>
                <a:ea typeface="Outfit"/>
                <a:cs typeface="Outfit"/>
              </a:defRPr>
            </a:lvl1pPr>
          </a:lstStyle>
          <a:p>
            <a:r>
              <a:rPr lang="de-CH" dirty="0"/>
              <a:t>Quelle oder Anmerkung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177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65E6D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90" name="ET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80" y="4612564"/>
            <a:ext cx="527120" cy="220000"/>
          </a:xfrm>
          <a:prstGeom prst="rect">
            <a:avLst/>
          </a:prstGeom>
        </p:spPr>
      </p:pic>
      <p:pic>
        <p:nvPicPr>
          <p:cNvPr id="91" name="pdz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400" y="4612564"/>
            <a:ext cx="420420" cy="2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reas Abschluss"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wm-be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20240"/>
            <a:ext cx="3657600" cy="45641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dirty="0">
                <a:solidFill>
                  <a:srgbClr val="9EA3AC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9EA3A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Kontakt oder Schlusssatz</a:t>
            </a:r>
            <a:endParaRPr lang="en-US" sz="1600" dirty="0"/>
          </a:p>
        </p:txBody>
      </p:sp>
      <p:pic>
        <p:nvPicPr>
          <p:cNvPr id="90" name="ET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820" y="4612564"/>
            <a:ext cx="527120" cy="220000"/>
          </a:xfrm>
          <a:prstGeom prst="rect">
            <a:avLst/>
          </a:prstGeom>
        </p:spPr>
      </p:pic>
      <p:pic>
        <p:nvPicPr>
          <p:cNvPr id="91" name="pdz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940" y="4612564"/>
            <a:ext cx="420420" cy="22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6177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EA3AC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5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9240C-C3DC-5947-5F57-28E666764E8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B-rep oder Voxel?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62A6-E40B-35F5-397D-91E39F5A07D1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lang="de-DE"/>
              <a:t>build123d und PicoGK im Vergleich am Boreas-Rumpf · 30. September 2026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1431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D884-CF98-B083-BFCF-DD253176300E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Agenda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ED72-0653-C04E-4DE9-7357E13A1D80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de-DE"/>
              <a:t>Warum wir Geometrie per Code brauchen, und was B-rep und Voxel sind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de-DE"/>
              <a:t>Testobjekt und Methode: ein Modell, zwei Werkzeuge, gleiche Aufgaben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de-DE"/>
              <a:t>Ergebnisse: Funktionen, Grenzen, Aerodynamik und Kühlung, API und KI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de-DE"/>
              <a:t>Empfehlung und nächste Schritte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19753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32A7-BCCE-FC10-D655-C8BE098DDD5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01  Warum und Grundlagen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4373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1E22-7DE1-03C8-6B35-B65091B1A2D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Die Pipeline braucht Geometrie, die sich per Code ändern lässt</a:t>
            </a:r>
            <a:endParaRPr lang="en-CH" sz="21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256C766-30B8-9498-C33F-9FE50D9404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4312" y="1168400"/>
            <a:ext cx="5915377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6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7BDA-2E3B-0047-6854-4319F5D6393D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Ein CAD-Kern speichert Form – als exaktes Rezept oder als Raster</a:t>
            </a:r>
            <a:endParaRPr lang="en-CH" sz="21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9F1316-D85D-71B0-58EF-C4AF07910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4312" y="1168400"/>
            <a:ext cx="5915377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7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A224-8470-2108-7D46-271C6BBE9CD8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400"/>
              <a:t>B-rep: ein Körper ist eine Haut aus exakten Flächen</a:t>
            </a:r>
            <a:endParaRPr lang="en-CH" sz="24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12D90F-4D10-168D-A50A-A15D9F474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100" y="1219200"/>
            <a:ext cx="508000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DE038-B951-4FDD-7FBE-C13C1CF32BF4}"/>
              </a:ext>
            </a:extLst>
          </p:cNvPr>
          <p:cNvSpPr txBox="1"/>
          <p:nvPr/>
        </p:nvSpPr>
        <p:spPr>
          <a:xfrm>
            <a:off x="5905500" y="1397000"/>
            <a:ext cx="269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0D192F"/>
                </a:solidFill>
              </a:rPr>
              <a:t>Masse sind exakt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Ein Radius 5 mm ist ein echter Kreisbogen</a:t>
            </a:r>
          </a:p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0D192F"/>
                </a:solidFill>
              </a:rPr>
              <a:t>Elemente ansprechbar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„Alle Kanten am oberen Ring verrunden“</a:t>
            </a:r>
          </a:p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0D192F"/>
                </a:solidFill>
              </a:rPr>
              <a:t>CAD-Standard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STEP, Zeichnung, Toleranzen</a:t>
            </a:r>
          </a:p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A33A3A"/>
                </a:solidFill>
              </a:rPr>
              <a:t>Schwäche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Tausende feine Details, Offsets auf Freiform</a:t>
            </a:r>
            <a:endParaRPr lang="en-CH" sz="130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646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AA97-B9DF-D372-648B-51CDBB77F370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400"/>
              <a:t>Voxel: jede Zelle kennt ihren Abstand zur Oberfläche</a:t>
            </a:r>
            <a:endParaRPr lang="en-CH" sz="24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76B4E78-4294-70EB-AA08-0E890252C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100" y="1219200"/>
            <a:ext cx="508000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62B757-6B7D-761F-A395-AD4F41EC25B1}"/>
              </a:ext>
            </a:extLst>
          </p:cNvPr>
          <p:cNvSpPr txBox="1"/>
          <p:nvPr/>
        </p:nvSpPr>
        <p:spPr>
          <a:xfrm>
            <a:off x="5905500" y="1397000"/>
            <a:ext cx="269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0D192F"/>
                </a:solidFill>
              </a:rPr>
              <a:t>„Minecraft, nur sehr fein“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Würfel von z. B. 0.5 mm, mit Abstandswert</a:t>
            </a:r>
          </a:p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0D192F"/>
                </a:solidFill>
              </a:rPr>
              <a:t>Formen verknüpfen = rechnen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Vereinigen = Minimum, Abziehen = Maximum</a:t>
            </a:r>
          </a:p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0D192F"/>
                </a:solidFill>
              </a:rPr>
              <a:t>Gitter und Kanäle als Formel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scheitert praktisch nie</a:t>
            </a:r>
          </a:p>
          <a:p>
            <a:pPr>
              <a:spcAft>
                <a:spcPts val="800"/>
              </a:spcAft>
            </a:pPr>
            <a:r>
              <a:rPr lang="de-DE" sz="1300" b="1">
                <a:solidFill>
                  <a:srgbClr val="A33A3A"/>
                </a:solidFill>
              </a:rPr>
              <a:t>Schwäche</a:t>
            </a:r>
          </a:p>
          <a:p>
            <a:pPr>
              <a:spcAft>
                <a:spcPts val="800"/>
              </a:spcAft>
            </a:pPr>
            <a:r>
              <a:rPr lang="de-DE" sz="1300">
                <a:solidFill>
                  <a:srgbClr val="0D192F"/>
                </a:solidFill>
              </a:rPr>
              <a:t>Genauigkeit = Raster; feiner kostet Speicher</a:t>
            </a:r>
            <a:endParaRPr lang="en-CH" sz="130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29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8459-36B3-4009-86A6-43F1D914A3BD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Die Kandidaten</a:t>
            </a:r>
            <a:endParaRPr lang="en-CH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93B880-9A67-53F5-9B39-58D07BD9F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37837"/>
              </p:ext>
            </p:extLst>
          </p:nvPr>
        </p:nvGraphicFramePr>
        <p:xfrm>
          <a:off x="546100" y="1270000"/>
          <a:ext cx="80518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66179033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103760368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4227108927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endParaRPr lang="en-CH" sz="12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F2EDE3"/>
                          </a:solidFill>
                        </a:rPr>
                        <a:t>build123d</a:t>
                      </a:r>
                      <a:endParaRPr lang="en-CH" sz="12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F2EDE3"/>
                          </a:solidFill>
                        </a:rPr>
                        <a:t>PicoGK</a:t>
                      </a:r>
                      <a:endParaRPr lang="en-CH" sz="12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49135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Technik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B-rep (exakte Flächen)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Voxel / Distanzfeld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35204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Sprache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Python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C# (.NET 9)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05637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Kern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OpenCASCADE (OCCT 8)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OpenVDB-basiert, LEAP 71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3512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Lizenz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Apache 2.0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Apache 2.0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908369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Plattformen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Windows, Linux, macOS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rgbClr val="0D192F"/>
                          </a:solidFill>
                        </a:rPr>
                        <a:t>Windows, macOS (kein Linux offiziell)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85531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Community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3'236 Sterne, 87 Beitragende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1'121 Sterne, 4 Beitragende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68040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Doku für KI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offizielles llms.txt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XML-Kommentare, Beispiele veraltet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04901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rgbClr val="0D192F"/>
                          </a:solidFill>
                        </a:rPr>
                        <a:t>Ausgabe</a:t>
                      </a:r>
                      <a:endParaRPr lang="en-CH" sz="12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STEP, STL, 3MF, SVG/DXF-Zeichnung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rgbClr val="0D192F"/>
                          </a:solidFill>
                        </a:rPr>
                        <a:t>STL, VDB, CLI-Schichten</a:t>
                      </a:r>
                      <a:endParaRPr lang="en-CH" sz="12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831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36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7B67-B697-4821-8A92-A1CF2AF04FD8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02  Testobjekt und Methode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78818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0524-5C3B-3696-168F-F0BA8605A8E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Der Boreas-Rumpf, neu aufgebaut: 81 Parameter in 10 Gruppen</a:t>
            </a:r>
            <a:endParaRPr lang="en-CH" sz="21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4631B7-6EB3-C28F-7F28-D407863CF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100" y="1219200"/>
            <a:ext cx="508000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D9F2F3-EB4B-72B4-D729-D2994F42A7EC}"/>
              </a:ext>
            </a:extLst>
          </p:cNvPr>
          <p:cNvSpPr txBox="1"/>
          <p:nvPr/>
        </p:nvSpPr>
        <p:spPr>
          <a:xfrm>
            <a:off x="5905500" y="1320800"/>
            <a:ext cx="269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0D192F"/>
                </a:solidFill>
              </a:rPr>
              <a:t>Skelett-Methode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Das Skelett hält nur gemeinsame Masse: Armzahl, Motorlage, Trennebene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Jede Gruppe liest nur sich selbst + Skelett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0D192F"/>
                </a:solidFill>
              </a:rPr>
              <a:t>Geprüft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10/10 Gruppen unabhängig (build123d), 10/10 (PicoGK)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0D192F"/>
                </a:solidFill>
              </a:rPr>
              <a:t>Treue zum Original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Ø Abweichung Unterteil 0.6 mm, Oberteil 1.5 mm; Tropfenprofile übernommen</a:t>
            </a:r>
            <a:endParaRPr lang="en-CH" sz="125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04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0BCB-3650-B1A2-B050-0839284F67B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Dasselbe Modell in beiden Werkzeugen – aus einer Spezifikation</a:t>
            </a:r>
            <a:endParaRPr lang="en-CH" sz="2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B7492-4C57-2150-ABE5-269FE890C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1168401"/>
            <a:ext cx="4826000" cy="31100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C0281F-A076-8D7A-60E3-6C3409977387}"/>
              </a:ext>
            </a:extLst>
          </p:cNvPr>
          <p:cNvSpPr txBox="1"/>
          <p:nvPr/>
        </p:nvSpPr>
        <p:spPr>
          <a:xfrm>
            <a:off x="5588000" y="3327400"/>
            <a:ext cx="3009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de-DE" sz="1100">
                <a:solidFill>
                  <a:srgbClr val="565E6D"/>
                </a:solidFill>
              </a:rPr>
              <a:t>Gleiche Spec, gleiche Formeln (docs/geometrie_definition.md), gleicher Aufruf.</a:t>
            </a:r>
          </a:p>
          <a:p>
            <a:pPr>
              <a:spcAft>
                <a:spcPts val="400"/>
              </a:spcAft>
            </a:pPr>
            <a:r>
              <a:rPr lang="de-DE" sz="1100">
                <a:solidFill>
                  <a:srgbClr val="565E6D"/>
                </a:solidFill>
              </a:rPr>
              <a:t>Codeaufwand für das Modell: 782 Zeilen Python gegen 781 Zeilen C#.</a:t>
            </a:r>
            <a:endParaRPr lang="en-CH" sz="1100">
              <a:solidFill>
                <a:srgbClr val="565E6D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77F25B-85E3-8D7D-E16E-74FF40F1A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643178"/>
              </p:ext>
            </p:extLst>
          </p:nvPr>
        </p:nvGraphicFramePr>
        <p:xfrm>
          <a:off x="5588000" y="1270000"/>
          <a:ext cx="30099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492182148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402706689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41041992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3633238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GB" sz="1050" b="1">
                          <a:solidFill>
                            <a:srgbClr val="F2EDE3"/>
                          </a:solidFill>
                        </a:rPr>
                        <a:t>Teil</a:t>
                      </a:r>
                      <a:endParaRPr lang="en-CH" sz="105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>
                          <a:solidFill>
                            <a:srgbClr val="F2EDE3"/>
                          </a:solidFill>
                        </a:rPr>
                        <a:t>build123d (exakt)</a:t>
                      </a:r>
                      <a:endParaRPr lang="en-CH" sz="105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>
                          <a:solidFill>
                            <a:srgbClr val="F2EDE3"/>
                          </a:solidFill>
                        </a:rPr>
                        <a:t>PicoGK (0.5 mm)</a:t>
                      </a:r>
                      <a:endParaRPr lang="en-CH" sz="105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>
                          <a:solidFill>
                            <a:srgbClr val="F2EDE3"/>
                          </a:solidFill>
                        </a:rPr>
                        <a:t>Differenz</a:t>
                      </a:r>
                      <a:endParaRPr lang="en-CH" sz="105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429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Oberteil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195.8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195.3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050">
                          <a:solidFill>
                            <a:srgbClr val="0D192F"/>
                          </a:solidFill>
                        </a:rPr>
                        <a:t>-0.2 %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03919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Unterteil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89.2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91.2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050">
                          <a:solidFill>
                            <a:srgbClr val="0D192F"/>
                          </a:solidFill>
                        </a:rPr>
                        <a:t>+2.2 %</a:t>
                      </a: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5821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Nasenkappe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30.9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30.8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050">
                          <a:solidFill>
                            <a:srgbClr val="0D192F"/>
                          </a:solidFill>
                        </a:rPr>
                        <a:t>-0.3 %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79203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Einsatz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38.8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rgbClr val="0D192F"/>
                          </a:solidFill>
                        </a:rPr>
                        <a:t>38.7 cm³</a:t>
                      </a:r>
                      <a:endParaRPr lang="en-CH" sz="105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050">
                          <a:solidFill>
                            <a:srgbClr val="0D192F"/>
                          </a:solidFill>
                        </a:rPr>
                        <a:t>-0.2 %</a:t>
                      </a: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2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84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C408-FCA6-FB5F-0798-09213E22CF94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Methode: gleiche Aufgaben, gleicher Aufruf, neutrale Messung</a:t>
            </a:r>
            <a:endParaRPr lang="en-CH" sz="2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6DF6A-8BD9-AAB5-4DA4-FF53C09FE707}"/>
              </a:ext>
            </a:extLst>
          </p:cNvPr>
          <p:cNvSpPr txBox="1"/>
          <p:nvPr/>
        </p:nvSpPr>
        <p:spPr>
          <a:xfrm>
            <a:off x="546100" y="137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de-DE" sz="1350" b="1">
                <a:solidFill>
                  <a:srgbClr val="0D192F"/>
                </a:solidFill>
              </a:rPr>
              <a:t>18 Aufgaben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de-DE" sz="1250">
                <a:solidFill>
                  <a:srgbClr val="0D192F"/>
                </a:solidFill>
              </a:rPr>
              <a:t>10 gemeinsame (B01–B10): Import, Modell, Varianten, Tropfenprofil, Schale, Verrundung, Masse, Druck, Aero, Leistung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de-DE" sz="1250">
                <a:solidFill>
                  <a:srgbClr val="0D192F"/>
                </a:solidFill>
              </a:rPr>
              <a:t>4 B-rep-typische (R01–R04), 4 Voxel-typische (V01–V04)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de-DE" sz="1250">
                <a:solidFill>
                  <a:srgbClr val="0D192F"/>
                </a:solidFill>
              </a:rPr>
              <a:t>„nicht möglich“ ist ein Ergebnis, kein Fehler</a:t>
            </a:r>
            <a:endParaRPr lang="en-CH" sz="1250">
              <a:solidFill>
                <a:srgbClr val="0D192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2108F-1975-65E3-2507-291030B2DA2F}"/>
              </a:ext>
            </a:extLst>
          </p:cNvPr>
          <p:cNvSpPr txBox="1"/>
          <p:nvPr/>
        </p:nvSpPr>
        <p:spPr>
          <a:xfrm>
            <a:off x="4787900" y="137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de-DE" sz="1350" b="1">
                <a:solidFill>
                  <a:srgbClr val="0D192F"/>
                </a:solidFill>
              </a:rPr>
              <a:t>Messung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de-DE" sz="1250">
                <a:solidFill>
                  <a:srgbClr val="0D192F"/>
                </a:solidFill>
              </a:rPr>
              <a:t>Beide Werkzeuge per Kommandozeile, JSON rein und raus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de-DE" sz="1250">
                <a:solidFill>
                  <a:srgbClr val="0D192F"/>
                </a:solidFill>
              </a:rPr>
              <a:t>Runner misst Laufzeit und RAM von aussen und rechnet Kennwerte selbst aus den STL-Netzen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de-DE" sz="1250">
                <a:solidFill>
                  <a:srgbClr val="0D192F"/>
                </a:solidFill>
              </a:rPr>
              <a:t>Voxel standardmässig 0.5 mm, B07 zusätzlich 2 / 1 / 0.25 mm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de-DE" sz="1250">
                <a:solidFill>
                  <a:srgbClr val="0D192F"/>
                </a:solidFill>
              </a:rPr>
              <a:t>Material-, Motor-, Aerowerte sind Mock-Daten</a:t>
            </a:r>
            <a:endParaRPr lang="en-CH" sz="125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04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C1EE-38DB-6ADD-B472-28B6BC283289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03  Ergebnisse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0344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86AE-1E55-FFC7-16DD-1FCB9209F5E5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Drei Zahlen vorweg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56755-1591-50F9-505E-28C1198DCC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CH"/>
              <a:t>17 | 11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D3B0F-F1EE-6E1A-862F-2450B4F64F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/>
              <a:t>Sekunden Neuaufbau nach Gruppenänderung (B-rep | Voxel)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52D30-FEE3-A80D-2C85-014A3B8632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CH"/>
              <a:t>0.6 | 2.6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77CB88-7E93-8370-DF92-5F4F6CA97A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sv-SE"/>
              <a:t>GB RAM, Median (B-rep | Voxel 0.5 mm)</a:t>
            </a:r>
            <a:endParaRPr lang="en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35B968-552D-277A-DBA3-13EF0AC1D9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CH"/>
              <a:t>1/6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1762B6-E641-BCA9-55C4-DED5AF4C71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/>
              <a:t>B-rep-Verrundungen an Freiformkanten erfolgreich (Voxel: alle)</a:t>
            </a:r>
            <a:endParaRPr lang="en-CH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23CC6A-8568-FA9E-6B3A-97E8ED1284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/>
              <a:t>Laufzeit inkl. Prozessstart und Export. Voxel-RAM wächst mit feinerem Raster stark (Folie Genauigkeit).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55747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FEA5-D647-302B-B3D9-641BEFF7D60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Gemeinsame Aufgaben: beide lösen fast alles – auf verschiedene Art</a:t>
            </a:r>
            <a:endParaRPr lang="en-CH" sz="21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9340EA-0C98-D187-EEC2-C1B4DB5B9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659055"/>
              </p:ext>
            </p:extLst>
          </p:nvPr>
        </p:nvGraphicFramePr>
        <p:xfrm>
          <a:off x="546100" y="1143000"/>
          <a:ext cx="8051800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89897649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78341794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24082903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31208268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Gemeinsame Aufgabe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build123d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PicoGK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Beobachtung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41218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0D192F"/>
                          </a:solidFill>
                        </a:rPr>
                        <a:t>B01  Referenz-STEP einlesen und abgleichen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B-rep liest STEP nativ; Voxel nur über STL/Rasterung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23934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0D192F"/>
                          </a:solidFill>
                        </a:rPr>
                        <a:t>B02  Gesamtmodell aus der Spec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49253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B03  Gruppen-Variation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05749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B04  Tropfenprofil (Fins, Gondeln)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beide treffen das Profil; Voxel rundet Hinterkante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8277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B05  Wandstärke / Schale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B-rep-Offset auf fertigen Teilen scheitert; Voxel immer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76697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B06  Verrundungen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000">
                          <a:solidFill>
                            <a:srgbClr val="565E6D"/>
                          </a:solidFill>
                        </a:rPr>
                        <a:t>B-rep: 1/6 Fillets ok; Voxel: alle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20552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B07  Masse und Genauigkeit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5387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B08  Druck-Export und -Check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Voxel: kein 3MF, nur STL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69736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B09  Aero-Vorbereitung (CFD)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271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B10  Leistung und Skalierung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366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946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540C-957D-3DAB-72CF-787B6B3B824E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400"/>
              <a:t>Spezialaufgaben: jede Technik hat ihr eigenes Revier</a:t>
            </a:r>
            <a:endParaRPr lang="en-CH" sz="2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8F871-E54D-C4F9-4DDD-B8BEA7D31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655819"/>
              </p:ext>
            </p:extLst>
          </p:nvPr>
        </p:nvGraphicFramePr>
        <p:xfrm>
          <a:off x="546100" y="1143000"/>
          <a:ext cx="80518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21756052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20707399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77221003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37557225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Spezialaufgabe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build123d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PicoGK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F2EDE3"/>
                          </a:solidFill>
                        </a:rPr>
                        <a:t>Beobachtung</a:t>
                      </a:r>
                      <a:endParaRPr lang="en-CH" sz="10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673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R01  Bemasste Zeichnung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A33A3A"/>
                          </a:solidFill>
                        </a:rPr>
                        <a:t>✕ nicht möglich</a:t>
                      </a:r>
                      <a:endParaRPr lang="en-CH" sz="1000" b="1">
                        <a:solidFill>
                          <a:srgbClr val="A33A3A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Voxel hat keine Kanten zum Bemassen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8559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R02  STEP-Export, Selektoren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A33A3A"/>
                          </a:solidFill>
                        </a:rPr>
                        <a:t>✕ nicht möglich</a:t>
                      </a:r>
                      <a:endParaRPr lang="en-CH" sz="1000" b="1">
                        <a:solidFill>
                          <a:srgbClr val="A33A3A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Voxel: kein STEP, keine Selektoren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05208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R03  Baugruppe, Joints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Voxel: keine Joints, nur Kollisionsprüfung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019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R04  Toleranzen, Passungen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Spalt &lt; 1 Voxel im selben Teil wächst zu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5594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V01  Gitter-Infill (Lattice)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565E6D"/>
                          </a:solidFill>
                        </a:rPr>
                        <a:t>B-rep: 423 Stäbe 40 s → leer; Voxel: Gyroid 0.8 s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8036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rgbClr val="0D192F"/>
                          </a:solidFill>
                        </a:rPr>
                        <a:t>V02  Kühlluftkanäle im Rumpf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>
                          <a:solidFill>
                            <a:srgbClr val="565E6D"/>
                          </a:solidFill>
                        </a:rPr>
                        <a:t>B-rep: 1 Kanal per Sweep; Voxel: 4 verzweigt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8124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0D192F"/>
                          </a:solidFill>
                        </a:rPr>
                        <a:t>V03  Feld-Wandstärke, Bool auf Netz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A33A3A"/>
                          </a:solidFill>
                        </a:rPr>
                        <a:t>✕ nicht möglich</a:t>
                      </a:r>
                      <a:endParaRPr lang="en-CH" sz="1000" b="1">
                        <a:solidFill>
                          <a:srgbClr val="A33A3A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Feldgesteuerte Wand und Bool auf Netz nur Voxel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1942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0D192F"/>
                          </a:solidFill>
                        </a:rPr>
                        <a:t>V04  Schichten für den Druck</a:t>
                      </a:r>
                      <a:endParaRPr lang="en-CH" sz="10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B7791F"/>
                          </a:solidFill>
                        </a:rPr>
                        <a:t>◐ teilweise</a:t>
                      </a:r>
                      <a:endParaRPr lang="en-CH" sz="1000" b="1">
                        <a:solidFill>
                          <a:srgbClr val="B7791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2E7D4F"/>
                          </a:solidFill>
                        </a:rPr>
                        <a:t>✓ ok</a:t>
                      </a:r>
                      <a:endParaRPr lang="en-CH" sz="1000" b="1">
                        <a:solidFill>
                          <a:srgbClr val="2E7D4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565E6D"/>
                          </a:solidFill>
                        </a:rPr>
                        <a:t>B-rep: exakte Schnitte; Voxel: CLI-Schichtdatei</a:t>
                      </a:r>
                      <a:endParaRPr lang="en-CH" sz="1000">
                        <a:solidFill>
                          <a:srgbClr val="565E6D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541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23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DFCB-FA29-C6BB-64E9-C8DD13844A9A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Genauigkeit kostet beim Voxel Speicher und Rechenzeit</a:t>
            </a:r>
            <a:endParaRPr lang="en-CH" sz="2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40472-0D16-5335-8C75-E70E51C46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1168400"/>
            <a:ext cx="8051800" cy="2601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5607E-60A4-2469-4178-7627313B8E7D}"/>
              </a:ext>
            </a:extLst>
          </p:cNvPr>
          <p:cNvSpPr txBox="1"/>
          <p:nvPr/>
        </p:nvSpPr>
        <p:spPr>
          <a:xfrm>
            <a:off x="546100" y="3873500"/>
            <a:ext cx="805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de-DE" sz="1200">
                <a:solidFill>
                  <a:srgbClr val="0D192F"/>
                </a:solidFill>
              </a:rPr>
              <a:t>Mittlere Abweichung zur exakten Form: 0.10 mm bei 2 mm Voxel, 0.02 mm bei 0.5 mm – danach kaum Gewinn, aber RAM 2.6 → 9.3 GB. Dünne Details (Fin-Hinterkante) bestimmen die Voxelgrösse: Faustregel ≤ ⅓ des dünnsten Details.</a:t>
            </a:r>
            <a:endParaRPr lang="en-CH" sz="120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535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113A-7E69-B670-9414-5EAE55D7908C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Leistung: ähnlich schnell, Voxel braucht 4–5× mehr RAM</a:t>
            </a:r>
            <a:endParaRPr lang="en-CH" sz="2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2EC2F-8296-503F-32AD-4FC19CAD9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1168400"/>
            <a:ext cx="8051800" cy="2725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C9F7F3-0A64-D19E-8EEC-FFFAA24CC863}"/>
              </a:ext>
            </a:extLst>
          </p:cNvPr>
          <p:cNvSpPr txBox="1"/>
          <p:nvPr/>
        </p:nvSpPr>
        <p:spPr>
          <a:xfrm>
            <a:off x="546100" y="3962400"/>
            <a:ext cx="805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de-DE" sz="1200">
                <a:solidFill>
                  <a:srgbClr val="0D192F"/>
                </a:solidFill>
              </a:rPr>
              <a:t>B09 Strömungsgebiet: B-rep 11 s / 0.7 GB, Voxel 16 s / 2.7 GB – das Raster füllt das ganze Gebiet.</a:t>
            </a:r>
            <a:endParaRPr lang="en-CH" sz="120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14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A6F8-D638-EF27-9A65-61573D77F929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Was nur B-rep kann: bemassen, tolerieren, exakt übergeben</a:t>
            </a:r>
            <a:endParaRPr lang="en-CH" sz="21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5576E00-364C-B54E-512D-803FEE39C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101" y="1168400"/>
            <a:ext cx="4809605" cy="332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531B57-710E-1E3E-ACE9-ADF470F8D18C}"/>
              </a:ext>
            </a:extLst>
          </p:cNvPr>
          <p:cNvSpPr txBox="1"/>
          <p:nvPr/>
        </p:nvSpPr>
        <p:spPr>
          <a:xfrm>
            <a:off x="5715000" y="1270000"/>
            <a:ext cx="2882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1F5FA8"/>
                </a:solidFill>
              </a:rPr>
              <a:t>R01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Bemasste A3-Zeichnung direkt aus dem Modell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1F5FA8"/>
                </a:solidFill>
              </a:rPr>
              <a:t>R02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STEP-Rundreise ohne Verlust, Kanten-Selektoren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1F5FA8"/>
                </a:solidFill>
              </a:rPr>
              <a:t>R03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Baugruppe mit Joints, exakte Kollision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1F5FA8"/>
                </a:solidFill>
              </a:rPr>
              <a:t>R04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Passungsspiel 0.15 mm exakt nachmessbar</a:t>
            </a:r>
            <a:endParaRPr lang="en-CH" sz="125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685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E497-58D8-4C0C-0446-11EEC30FF7B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400"/>
              <a:t>Was nur Voxel kann: Gitter, Kühlkanäle, Felder</a:t>
            </a:r>
            <a:endParaRPr lang="en-CH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402B7-16B8-9EE2-27A2-767F4135D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1" y="1168400"/>
            <a:ext cx="3386667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CE6520-10D9-7717-1833-73B8F91E4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1" y="1168400"/>
            <a:ext cx="3386667" cy="254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9502A8-80DB-5AAC-8CEC-EBC4211BDBE2}"/>
              </a:ext>
            </a:extLst>
          </p:cNvPr>
          <p:cNvSpPr txBox="1"/>
          <p:nvPr/>
        </p:nvSpPr>
        <p:spPr>
          <a:xfrm>
            <a:off x="546100" y="3810000"/>
            <a:ext cx="805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GB" sz="1200">
                <a:solidFill>
                  <a:srgbClr val="0D192F"/>
                </a:solidFill>
              </a:rPr>
              <a:t>Gyroid-Infill 0.8 s, 3456-Stab-Gitter 0.11 s, 4 verzweigte Kühlkanäle in Sekundenbruchteilen – B-rep: 423 Stäbe 40 s und leeres Ergebnis.</a:t>
            </a:r>
          </a:p>
          <a:p>
            <a:pPr>
              <a:spcAft>
                <a:spcPts val="400"/>
              </a:spcAft>
            </a:pPr>
            <a:r>
              <a:rPr lang="en-GB" sz="1200">
                <a:solidFill>
                  <a:srgbClr val="0D192F"/>
                </a:solidFill>
              </a:rPr>
              <a:t>Dazu: Wandstärke als Feld (1.2 → 3.5 mm), Booleans direkt auf Scan-/STL-Netzen, CLI-Schichten für den Druck.</a:t>
            </a:r>
            <a:endParaRPr lang="en-CH" sz="120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355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9B97-8E6C-0DF6-54D0-78FB871D83F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Aerodynamik und Kühlung: exakte Hülle vs. fertiges Rechengitter</a:t>
            </a:r>
            <a:endParaRPr lang="en-CH" sz="2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350F1-5B69-0493-A7E8-559D89224E90}"/>
              </a:ext>
            </a:extLst>
          </p:cNvPr>
          <p:cNvSpPr txBox="1"/>
          <p:nvPr/>
        </p:nvSpPr>
        <p:spPr>
          <a:xfrm>
            <a:off x="546100" y="137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350" b="1">
                <a:solidFill>
                  <a:srgbClr val="0D192F"/>
                </a:solidFill>
              </a:rPr>
              <a:t>Aussenströmung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Stirnfläche beide ≈ 86 cm²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B-rep: exakte Hülle als STEP/STL → klassische CFD (OpenFOAM, Gmsh)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Voxel: Strömungsgebiet direkt als kartesisches Gitter → Lattice-Boltzmann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Achtung: FluidX3D verbietet kommerzielle/militärische Nutzung</a:t>
            </a:r>
            <a:endParaRPr lang="en-CH" sz="1250">
              <a:solidFill>
                <a:srgbClr val="0D192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24B69-3FD7-5783-F5E6-FC87B20BFC4D}"/>
              </a:ext>
            </a:extLst>
          </p:cNvPr>
          <p:cNvSpPr txBox="1"/>
          <p:nvPr/>
        </p:nvSpPr>
        <p:spPr>
          <a:xfrm>
            <a:off x="4787900" y="137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350" b="1">
                <a:solidFill>
                  <a:srgbClr val="0D192F"/>
                </a:solidFill>
              </a:rPr>
              <a:t>Kühlluft im Rumpf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Einlässe, Rampen, Wände: in beiden parametrisch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Kanalnetze, die der Wand folgen, sich verzweigen: Voxel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Tropfenprofile: B-rep exakt; Voxel rundet Hinterkanten unter ~1 Voxel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GB" sz="1250">
                <a:solidFill>
                  <a:srgbClr val="0D192F"/>
                </a:solidFill>
              </a:rPr>
              <a:t>Genauigkeit am Fin entscheidet über die Voxelgrösse</a:t>
            </a:r>
            <a:endParaRPr lang="en-CH" sz="125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054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64E1-66EF-6C6D-2469-631FC9D7EE4C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 sz="2100"/>
              <a:t>API, KI-Agents, Pipeline: beide steuerbar, B-rep reifer</a:t>
            </a:r>
            <a:endParaRPr lang="en-CH" sz="21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2418C6-93AD-D380-2732-2B5B631F6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318104"/>
              </p:ext>
            </p:extLst>
          </p:nvPr>
        </p:nvGraphicFramePr>
        <p:xfrm>
          <a:off x="546100" y="1143000"/>
          <a:ext cx="80518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759222606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513338272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3998258500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F2EDE3"/>
                          </a:solidFill>
                        </a:rPr>
                        <a:t>Kriterium</a:t>
                      </a:r>
                      <a:endParaRPr lang="en-CH" sz="11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F2EDE3"/>
                          </a:solidFill>
                        </a:rPr>
                        <a:t>build123d</a:t>
                      </a:r>
                      <a:endParaRPr lang="en-CH" sz="11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F2EDE3"/>
                          </a:solidFill>
                        </a:rPr>
                        <a:t>PicoGK</a:t>
                      </a:r>
                      <a:endParaRPr lang="en-CH" sz="1100" b="1">
                        <a:solidFill>
                          <a:srgbClr val="F2EDE3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0D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7230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0D192F"/>
                          </a:solidFill>
                        </a:rPr>
                        <a:t>A01 API</a:t>
                      </a:r>
                      <a:endParaRPr lang="en-CH" sz="11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solidFill>
                            <a:srgbClr val="0D192F"/>
                          </a:solidFill>
                        </a:rPr>
                        <a:t>Python, zwei Stile (Builder/Algebra), Typ-Hinweise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solidFill>
                            <a:srgbClr val="0D192F"/>
                          </a:solidFill>
                        </a:rPr>
                        <a:t>C#, kleine klare API, Compiler fängt Fehler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59485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0D192F"/>
                          </a:solidFill>
                        </a:rPr>
                        <a:t>A02 Headless</a:t>
                      </a:r>
                      <a:endParaRPr lang="en-CH" sz="11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0D192F"/>
                          </a:solidFill>
                        </a:rPr>
                        <a:t>✓ reines Python-Modul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0D192F"/>
                          </a:solidFill>
                        </a:rPr>
                        <a:t>✓ new Library(voxel) – kein Fenster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19318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0D192F"/>
                          </a:solidFill>
                        </a:rPr>
                        <a:t>A03 KI-Agents</a:t>
                      </a:r>
                      <a:endParaRPr lang="en-CH" sz="11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solidFill>
                            <a:srgbClr val="0D192F"/>
                          </a:solidFill>
                        </a:rPr>
                        <a:t>llms.txt, viel Beispielcode; aber stille Fehler (falscher Fuse, Netzlöcher)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solidFill>
                            <a:srgbClr val="0D192F"/>
                          </a:solidFill>
                        </a:rPr>
                        <a:t>Booleans scheitern nie; aber Beispiele veraltet, Bibliothek liefert falsche Volumen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49334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0D192F"/>
                          </a:solidFill>
                        </a:rPr>
                        <a:t>A04 Pipeline</a:t>
                      </a:r>
                      <a:endParaRPr lang="en-CH" sz="11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rgbClr val="0D192F"/>
                          </a:solidFill>
                        </a:rPr>
                        <a:t>Python-Ökosystem (numpy, scipy, CFD, Optimierer) direkt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solidFill>
                            <a:srgbClr val="0D192F"/>
                          </a:solidFill>
                        </a:rPr>
                        <a:t>Prozessgrenze .NET; Python nur über inoffizielle Bindings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E8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47915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GB" sz="1100" b="1">
                          <a:solidFill>
                            <a:srgbClr val="0D192F"/>
                          </a:solidFill>
                        </a:rPr>
                        <a:t>A05 Reife</a:t>
                      </a:r>
                      <a:endParaRPr lang="en-CH" sz="1100" b="1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solidFill>
                            <a:srgbClr val="0D192F"/>
                          </a:solidFill>
                        </a:rPr>
                        <a:t>87 Beitragende, alle Plattformen, 0.x-Version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solidFill>
                            <a:srgbClr val="0D192F"/>
                          </a:solidFill>
                        </a:rPr>
                        <a:t>4 Beitragende, kein Linux, .NET 9 bis Nov. 2026</a:t>
                      </a:r>
                      <a:endParaRPr lang="en-CH" sz="1100">
                        <a:solidFill>
                          <a:srgbClr val="0D192F"/>
                        </a:solidFill>
                      </a:endParaRP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65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761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CDF-FFD5-461C-0389-E072F72AF7DF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04  Empfehlung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9908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0EB1-94A0-10D8-6C10-FC156ED0F61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DE" sz="2100"/>
              <a:t>Empfehlung: B-rep als Master, Voxel als Spezialwerkzeug</a:t>
            </a:r>
            <a:endParaRPr lang="en-CH" sz="21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9DCEA06-334B-742F-27A0-58825BC20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100" y="1168401"/>
            <a:ext cx="4953000" cy="2786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87E18-9394-31FA-AFD8-7D3E8BAE1AE6}"/>
              </a:ext>
            </a:extLst>
          </p:cNvPr>
          <p:cNvSpPr txBox="1"/>
          <p:nvPr/>
        </p:nvSpPr>
        <p:spPr>
          <a:xfrm>
            <a:off x="5715000" y="1270000"/>
            <a:ext cx="2882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0D192F"/>
                </a:solidFill>
              </a:rPr>
              <a:t>Bemassen, tolerieren, STEP?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→ build123d (Rumpf, Arme, Gondeln, Flossen)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0D192F"/>
                </a:solidFill>
              </a:rPr>
              <a:t>Gitter, Kanäle, Felder?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→ PicoGK als Nachbearbeitung für den Druck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0D192F"/>
                </a:solidFill>
              </a:rPr>
              <a:t>Beides?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→ Hybrid: B-rep-Modell ist die Wahrheit, Übergabe als Netz</a:t>
            </a:r>
          </a:p>
          <a:p>
            <a:pPr>
              <a:spcAft>
                <a:spcPts val="700"/>
              </a:spcAft>
            </a:pPr>
            <a:r>
              <a:rPr lang="en-GB" sz="1250" b="1">
                <a:solidFill>
                  <a:srgbClr val="A33A3A"/>
                </a:solidFill>
              </a:rPr>
              <a:t>Rückweg</a:t>
            </a:r>
          </a:p>
          <a:p>
            <a:pPr>
              <a:spcAft>
                <a:spcPts val="700"/>
              </a:spcAft>
            </a:pPr>
            <a:r>
              <a:rPr lang="en-GB" sz="1250">
                <a:solidFill>
                  <a:srgbClr val="0D192F"/>
                </a:solidFill>
              </a:rPr>
              <a:t>Voxel → STEP gibt es nicht</a:t>
            </a:r>
            <a:endParaRPr lang="en-CH" sz="125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181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79D8-48FA-F6CF-D535-B02539F2FA9F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Nächste Schritte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42FDD-1002-847A-4C23-0BA88780D2AE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GB" sz="1500"/>
              <a:t>Pipeline-Kern festlegen: build123d + Spec mit Gruppen (Entscheid im Team)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GB" sz="1500"/>
              <a:t>Pilot: Unterteil mit Kühlluftkanälen – B-rep-Hülle, Voxel-Kanäle, gedruckt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GB" sz="1500"/>
              <a:t>Agent-Test: KI-Agent löst dieselbe Änderung in beiden Werkzeugen, Fehlerquote messen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GB" sz="1500"/>
              <a:t>Checks gegen stille Fehler: Volumen, Dichtheit, Gültigkeit nach jedem Schritt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GB" sz="1500"/>
              <a:t>CFD-Anbindung klären: OpenFOAM mit STL aus B-rep (Lizenz geprüft)</a:t>
            </a:r>
            <a:endParaRPr lang="en-CH" sz="1500"/>
          </a:p>
        </p:txBody>
      </p:sp>
    </p:spTree>
    <p:extLst>
      <p:ext uri="{BB962C8B-B14F-4D97-AF65-F5344CB8AC3E}">
        <p14:creationId xmlns:p14="http://schemas.microsoft.com/office/powerpoint/2010/main" val="1645005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304B9D-EF22-F216-954A-471BE06C6AC9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/>
              <a:t>Danke · Fragen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56286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CE55-C122-B40F-24AD-D0B92C09865B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GB"/>
              <a:t>Backup: Grenzen dieser Untersuchung</a:t>
            </a:r>
            <a:endParaRPr lang="en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A54F6-2BEE-2ABB-07B1-D2D65457B5A2}"/>
              </a:ext>
            </a:extLst>
          </p:cNvPr>
          <p:cNvSpPr txBox="1"/>
          <p:nvPr/>
        </p:nvSpPr>
        <p:spPr>
          <a:xfrm>
            <a:off x="546100" y="1270000"/>
            <a:ext cx="805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de-DE" sz="1300">
                <a:solidFill>
                  <a:srgbClr val="0D192F"/>
                </a:solidFill>
              </a:rPr>
              <a:t>Mock-Daten für Material, Motoren und Aero – es werden Werkzeuge verglichen, keine Auslegung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de-DE" sz="1300">
                <a:solidFill>
                  <a:srgbClr val="0D192F"/>
                </a:solidFill>
              </a:rPr>
              <a:t>Ein Bauteil, ein Rechner (i7-13700HX, 32 GB, Windows 11), je Aufgabe 1–2 Läufe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de-DE" sz="1300">
                <a:solidFill>
                  <a:srgbClr val="0D192F"/>
                </a:solidFill>
              </a:rPr>
              <a:t>Beide Modelle mit KI-Agents gebaut; Laufzeiten des eigenen Codes (z. B. Netzprüfung) fliessen ein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de-DE" sz="1300">
                <a:solidFill>
                  <a:srgbClr val="0D192F"/>
                </a:solidFill>
              </a:rPr>
              <a:t>Referenz-STEP ist teils fehlerhaft (Schalen statt Körper) – Abweichung über Oberflächen gemessen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de-DE" sz="1300">
                <a:solidFill>
                  <a:srgbClr val="0D192F"/>
                </a:solidFill>
              </a:rPr>
              <a:t>Voxel-Ergebnisse gelten für 0.5 mm; feinere Raster sind genauer, aber teurer (B07)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de-DE" sz="1300">
                <a:solidFill>
                  <a:srgbClr val="0D192F"/>
                </a:solidFill>
              </a:rPr>
              <a:t>Keine echte CFD-/FEM-Rechnung, nur deren Vorbereitung</a:t>
            </a:r>
            <a:endParaRPr lang="en-CH" sz="1300">
              <a:solidFill>
                <a:srgbClr val="0D1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57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eas-Vorlagev2" id="{16D9EBCA-401F-4DA7-84AF-80AD87EE6AB1}" vid="{ACF07ABB-6729-4557-8610-D384B3E57C1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056C4E-62E2-844A-88D1-C9BA964298F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6f2fb5d-d848-4a65-8474-2e4b40e61a2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2009</Words>
  <Application>Microsoft Office PowerPoint</Application>
  <PresentationFormat>On-screen Show (16:9)</PresentationFormat>
  <Paragraphs>293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Outfit</vt:lpstr>
      <vt:lpstr>Outfit Light</vt:lpstr>
      <vt:lpstr>Office</vt:lpstr>
      <vt:lpstr>B-rep oder Voxel?</vt:lpstr>
      <vt:lpstr>Agenda</vt:lpstr>
      <vt:lpstr>01  Warum und Grundlagen</vt:lpstr>
      <vt:lpstr>Die Pipeline braucht Geometrie, die sich per Code ändern lässt</vt:lpstr>
      <vt:lpstr>Ein CAD-Kern speichert Form – als exaktes Rezept oder als Raster</vt:lpstr>
      <vt:lpstr>B-rep: ein Körper ist eine Haut aus exakten Flächen</vt:lpstr>
      <vt:lpstr>Voxel: jede Zelle kennt ihren Abstand zur Oberfläche</vt:lpstr>
      <vt:lpstr>Die Kandidaten</vt:lpstr>
      <vt:lpstr>02  Testobjekt und Methode</vt:lpstr>
      <vt:lpstr>Der Boreas-Rumpf, neu aufgebaut: 81 Parameter in 10 Gruppen</vt:lpstr>
      <vt:lpstr>Dasselbe Modell in beiden Werkzeugen – aus einer Spezifikation</vt:lpstr>
      <vt:lpstr>Methode: gleiche Aufgaben, gleicher Aufruf, neutrale Messung</vt:lpstr>
      <vt:lpstr>03  Ergebnisse</vt:lpstr>
      <vt:lpstr>Drei Zahlen vorweg</vt:lpstr>
      <vt:lpstr>Gemeinsame Aufgaben: beide lösen fast alles – auf verschiedene Art</vt:lpstr>
      <vt:lpstr>Spezialaufgaben: jede Technik hat ihr eigenes Revier</vt:lpstr>
      <vt:lpstr>Genauigkeit kostet beim Voxel Speicher und Rechenzeit</vt:lpstr>
      <vt:lpstr>Leistung: ähnlich schnell, Voxel braucht 4–5× mehr RAM</vt:lpstr>
      <vt:lpstr>Was nur B-rep kann: bemassen, tolerieren, exakt übergeben</vt:lpstr>
      <vt:lpstr>Was nur Voxel kann: Gitter, Kühlkanäle, Felder</vt:lpstr>
      <vt:lpstr>Aerodynamik und Kühlung: exakte Hülle vs. fertiges Rechengitter</vt:lpstr>
      <vt:lpstr>API, KI-Agents, Pipeline: beide steuerbar, B-rep reifer</vt:lpstr>
      <vt:lpstr>04  Empfehlung</vt:lpstr>
      <vt:lpstr>Empfehlung: B-rep als Master, Voxel als Spezialwerkzeug</vt:lpstr>
      <vt:lpstr>Nächste Schritte</vt:lpstr>
      <vt:lpstr>PowerPoint Presentation</vt:lpstr>
      <vt:lpstr>Backup: Grenzen dieser Untersuchung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Dietz  Lukas</dc:creator>
  <cp:lastModifiedBy>Koll  Lucas</cp:lastModifiedBy>
  <cp:revision>6</cp:revision>
  <dcterms:created xsi:type="dcterms:W3CDTF">2026-09-22T08:46:13Z</dcterms:created>
  <dcterms:modified xsi:type="dcterms:W3CDTF">2026-09-30T16:37:45Z</dcterms:modified>
</cp:coreProperties>
</file>